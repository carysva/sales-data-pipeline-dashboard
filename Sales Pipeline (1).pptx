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Hanken Grotesk Medium"/>
      <p:regular r:id="rId11"/>
      <p:bold r:id="rId12"/>
      <p:italic r:id="rId13"/>
      <p:boldItalic r:id="rId14"/>
    </p:embeddedFont>
    <p:embeddedFont>
      <p:font typeface="Neuton Light"/>
      <p:regular r:id="rId15"/>
      <p:bold r:id="rId16"/>
      <p:boldItalic r:id="rId17"/>
    </p:embeddedFont>
    <p:embeddedFont>
      <p:font typeface="Hanken Grotesk"/>
      <p:regular r:id="rId18"/>
      <p:bold r:id="rId19"/>
      <p:italic r:id="rId20"/>
      <p:boldItalic r:id="rId21"/>
    </p:embeddedFont>
    <p:embeddedFont>
      <p:font typeface="Hanken Grotesk SemiBold"/>
      <p:regular r:id="rId22"/>
      <p:bold r:id="rId23"/>
      <p:italic r:id="rId24"/>
      <p:boldItalic r:id="rId25"/>
    </p:embeddedFont>
    <p:embeddedFont>
      <p:font typeface="Neuton"/>
      <p:regular r:id="rId26"/>
      <p:bold r:id="rId27"/>
      <p:italic r:id="rId28"/>
    </p:embeddedFont>
    <p:embeddedFont>
      <p:font typeface="Hanken Grotesk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italic.fntdata"/><Relationship Id="rId22" Type="http://schemas.openxmlformats.org/officeDocument/2006/relationships/font" Target="fonts/HankenGroteskSemiBold-regular.fntdata"/><Relationship Id="rId21" Type="http://schemas.openxmlformats.org/officeDocument/2006/relationships/font" Target="fonts/HankenGrotesk-boldItalic.fntdata"/><Relationship Id="rId24" Type="http://schemas.openxmlformats.org/officeDocument/2006/relationships/font" Target="fonts/HankenGroteskSemiBold-italic.fntdata"/><Relationship Id="rId23" Type="http://schemas.openxmlformats.org/officeDocument/2006/relationships/font" Target="fonts/HankenGroteskSemi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euton-regular.fntdata"/><Relationship Id="rId25" Type="http://schemas.openxmlformats.org/officeDocument/2006/relationships/font" Target="fonts/HankenGroteskSemiBold-boldItalic.fntdata"/><Relationship Id="rId28" Type="http://schemas.openxmlformats.org/officeDocument/2006/relationships/font" Target="fonts/Neuton-italic.fntdata"/><Relationship Id="rId27" Type="http://schemas.openxmlformats.org/officeDocument/2006/relationships/font" Target="fonts/Neuton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nkenGrotesk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nkenGroteskLight-italic.fntdata"/><Relationship Id="rId30" Type="http://schemas.openxmlformats.org/officeDocument/2006/relationships/font" Target="fonts/HankenGroteskLight-bold.fntdata"/><Relationship Id="rId11" Type="http://schemas.openxmlformats.org/officeDocument/2006/relationships/font" Target="fonts/HankenGroteskMedium-regular.fntdata"/><Relationship Id="rId10" Type="http://schemas.openxmlformats.org/officeDocument/2006/relationships/slide" Target="slides/slide4.xml"/><Relationship Id="rId32" Type="http://schemas.openxmlformats.org/officeDocument/2006/relationships/font" Target="fonts/HankenGroteskLight-boldItalic.fntdata"/><Relationship Id="rId13" Type="http://schemas.openxmlformats.org/officeDocument/2006/relationships/font" Target="fonts/HankenGroteskMedium-italic.fntdata"/><Relationship Id="rId12" Type="http://schemas.openxmlformats.org/officeDocument/2006/relationships/font" Target="fonts/HankenGroteskMedium-bold.fntdata"/><Relationship Id="rId15" Type="http://schemas.openxmlformats.org/officeDocument/2006/relationships/font" Target="fonts/NeutonLight-regular.fntdata"/><Relationship Id="rId14" Type="http://schemas.openxmlformats.org/officeDocument/2006/relationships/font" Target="fonts/HankenGroteskMedium-boldItalic.fntdata"/><Relationship Id="rId17" Type="http://schemas.openxmlformats.org/officeDocument/2006/relationships/font" Target="fonts/NeutonLight-boldItalic.fntdata"/><Relationship Id="rId16" Type="http://schemas.openxmlformats.org/officeDocument/2006/relationships/font" Target="fonts/NeutonLight-bold.fntdata"/><Relationship Id="rId19" Type="http://schemas.openxmlformats.org/officeDocument/2006/relationships/font" Target="fonts/HankenGrotesk-bold.fntdata"/><Relationship Id="rId18" Type="http://schemas.openxmlformats.org/officeDocument/2006/relationships/font" Target="fonts/Hanken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3838bfae7_0_2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a3838bfae7_0_2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Today we’ll walk you through the end-to-end automated feature store pipeline we built for this project.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a3838bfae7_0_3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a3838bfae7_0_3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3838bfae7_0_3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a3838bfae7_0_3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3838bfae7_0_2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a3838bfae7_0_2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rgbClr val="A200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rgbClr val="A200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rgbClr val="F2B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rgbClr val="F2B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rgbClr val="FF66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rgbClr val="FF66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3" name="Google Shape;153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5" name="Google Shape;155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3" name="Google Shape;163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5" name="Google Shape;165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6" name="Google Shape;166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7" name="Google Shape;167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9" name="Google Shape;169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1" name="Google Shape;171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3" name="Google Shape;173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7" name="Google Shape;177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8" name="Google Shape;178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9" name="Google Shape;179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5" name="Google Shape;185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3" name="Google Shape;203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6" name="Google Shape;206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1" name="Google Shape;211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2" name="Google Shape;212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3" name="Google Shape;213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1" name="Google Shape;231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2" name="Google Shape;232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3" name="Google Shape;233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4" name="Google Shape;234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8" name="Google Shape;248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" name="Google Shape;253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4" name="Google Shape;284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5" name="Google Shape;285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6" name="Google Shape;286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7" name="Google Shape;287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9" name="Google Shape;289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0" name="Google Shape;290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1" name="Google Shape;291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0" name="Google Shape;310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1" name="Google Shape;311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2" name="Google Shape;312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5" name="Google Shape;315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1" name="Google Shape;321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5" name="Google Shape;325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6" name="Google Shape;326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7" name="Google Shape;327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8" name="Google Shape;328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8" name="Google Shape;338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9" name="Google Shape;339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0" name="Google Shape;340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6" name="Google Shape;346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9" name="Google Shape;349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9" name="Google Shape;359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0" name="Google Shape;360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1" name="Google Shape;361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9" name="Google Shape;379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0" name="Google Shape;380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1" name="Google Shape;381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4" name="Google Shape;384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1" name="Google Shape;391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2" name="Google Shape;392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3" name="Google Shape;393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4" name="Google Shape;394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5" name="Google Shape;395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5" name="Google Shape;405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6" name="Google Shape;406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7" name="Google Shape;407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6" name="Google Shape;416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7" name="Google Shape;417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8" name="Google Shape;418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4" name="Google Shape;424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5" name="Google Shape;425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6" name="Google Shape;426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7" name="Google Shape;427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8" name="Google Shape;428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5" name="Google Shape;435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6" name="Google Shape;436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7" name="Google Shape;447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48" name="Google Shape;448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9" name="Google Shape;449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0" name="Google Shape;450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1" name="Google Shape;451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5" name="Google Shape;455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6" name="Google Shape;456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7" name="Google Shape;457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68" name="Google Shape;468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9" name="Google Shape;469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1" name="Google Shape;471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2" name="Google Shape;472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2" name="Google Shape;492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3" name="Google Shape;493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4" name="Google Shape;494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5" name="Google Shape;495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97" name="Google Shape;497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8" name="Google Shape;498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9" name="Google Shape;499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0" name="Google Shape;500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2" name="Google Shape;502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3" name="Google Shape;513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4" name="Google Shape;514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5" name="Google Shape;515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9" name="Google Shape;519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0" name="Google Shape;520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1" name="Google Shape;521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5" name="Google Shape;525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6" name="Google Shape;526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7" name="Google Shape;527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0" name="Google Shape;540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1" name="Google Shape;541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2" name="Google Shape;542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3" name="Google Shape;543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7" name="Google Shape;557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6" name="Google Shape;566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1" name="Google Shape;571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6" name="Google Shape;576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7" name="Google Shape;577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2" name="Google Shape;582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6" name="Google Shape;586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7" name="Google Shape;587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8" name="Google Shape;588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9" name="Google Shape;589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4" name="Google Shape;594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5" name="Google Shape;595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8" name="Google Shape;598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9" name="Google Shape;599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0" name="Google Shape;600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1" name="Google Shape;601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4" name="Google Shape;604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5" name="Google Shape;605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6" name="Google Shape;606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7" name="Google Shape;607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8" name="Google Shape;608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9" name="Google Shape;609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2" name="Google Shape;612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3" name="Google Shape;613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4" name="Google Shape;614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6" name="Google Shape;616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7" name="Google Shape;617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8" name="Google Shape;618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9" name="Google Shape;619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2" name="Google Shape;622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5" name="Google Shape;625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9" name="Google Shape;629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0" name="Google Shape;630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3" name="Google Shape;633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4" name="Google Shape;634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5" name="Google Shape;635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8" name="Google Shape;63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9" name="Google Shape;639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0" name="Google Shape;640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1" name="Google Shape;641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2" name="Google Shape;652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200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0" name="Google Shape;660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FF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1" name="Google Shape;661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2" name="Google Shape;662;p5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7100"/>
              <a:t>Sales</a:t>
            </a:r>
            <a:r>
              <a:rPr lang="en" sz="7100"/>
              <a:t> Pipeline and Monitoring Dashboard</a:t>
            </a:r>
            <a:endParaRPr sz="7100"/>
          </a:p>
        </p:txBody>
      </p:sp>
      <p:sp>
        <p:nvSpPr>
          <p:cNvPr id="663" name="Google Shape;663;p59"/>
          <p:cNvSpPr txBox="1"/>
          <p:nvPr>
            <p:ph idx="1" type="body"/>
          </p:nvPr>
        </p:nvSpPr>
        <p:spPr>
          <a:xfrm>
            <a:off x="593173" y="3798450"/>
            <a:ext cx="5440800" cy="6480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900"/>
              <a:t>Katie Watts, Carys Van Atta, and Olivia Helms</a:t>
            </a:r>
            <a:endParaRPr sz="1900"/>
          </a:p>
        </p:txBody>
      </p:sp>
      <p:sp>
        <p:nvSpPr>
          <p:cNvPr id="664" name="Google Shape;664;p5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50"/>
              <a:t>Ballings Group  777</a:t>
            </a:r>
            <a:endParaRPr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0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Ballings Group 777</a:t>
            </a:r>
            <a:endParaRPr sz="1100"/>
          </a:p>
        </p:txBody>
      </p:sp>
      <p:sp>
        <p:nvSpPr>
          <p:cNvPr id="670" name="Google Shape;670;p60"/>
          <p:cNvSpPr txBox="1"/>
          <p:nvPr>
            <p:ph idx="2" type="title"/>
          </p:nvPr>
        </p:nvSpPr>
        <p:spPr>
          <a:xfrm>
            <a:off x="0" y="998363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5000"/>
              <a:t>Architectural Design</a:t>
            </a:r>
            <a:endParaRPr sz="5000"/>
          </a:p>
        </p:txBody>
      </p:sp>
      <p:sp>
        <p:nvSpPr>
          <p:cNvPr id="671" name="Google Shape;671;p60"/>
          <p:cNvSpPr/>
          <p:nvPr/>
        </p:nvSpPr>
        <p:spPr>
          <a:xfrm>
            <a:off x="432850" y="1861100"/>
            <a:ext cx="2120100" cy="315600"/>
          </a:xfrm>
          <a:prstGeom prst="rect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Remote Data Source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2" name="Google Shape;672;p60"/>
          <p:cNvSpPr/>
          <p:nvPr/>
        </p:nvSpPr>
        <p:spPr>
          <a:xfrm>
            <a:off x="1775575" y="2481675"/>
            <a:ext cx="1714200" cy="315600"/>
          </a:xfrm>
          <a:prstGeom prst="rect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Daily Pull Script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3" name="Google Shape;673;p60"/>
          <p:cNvSpPr/>
          <p:nvPr/>
        </p:nvSpPr>
        <p:spPr>
          <a:xfrm>
            <a:off x="3220175" y="2959475"/>
            <a:ext cx="1297800" cy="315600"/>
          </a:xfrm>
          <a:prstGeom prst="rect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Local Disk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4" name="Google Shape;674;p60"/>
          <p:cNvSpPr/>
          <p:nvPr/>
        </p:nvSpPr>
        <p:spPr>
          <a:xfrm>
            <a:off x="4360950" y="3453700"/>
            <a:ext cx="2120100" cy="315600"/>
          </a:xfrm>
          <a:prstGeom prst="rect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PostgreSQL Database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5" name="Google Shape;675;p60"/>
          <p:cNvSpPr/>
          <p:nvPr/>
        </p:nvSpPr>
        <p:spPr>
          <a:xfrm>
            <a:off x="5876825" y="3926475"/>
            <a:ext cx="1373400" cy="315600"/>
          </a:xfrm>
          <a:prstGeom prst="rect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Flask API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6" name="Google Shape;676;p60"/>
          <p:cNvSpPr/>
          <p:nvPr/>
        </p:nvSpPr>
        <p:spPr>
          <a:xfrm>
            <a:off x="6885900" y="4389750"/>
            <a:ext cx="1969500" cy="315600"/>
          </a:xfrm>
          <a:prstGeom prst="rect">
            <a:avLst/>
          </a:prstGeom>
          <a:solidFill>
            <a:srgbClr val="FF66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DASH Dashboard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7" name="Google Shape;677;p60"/>
          <p:cNvSpPr/>
          <p:nvPr/>
        </p:nvSpPr>
        <p:spPr>
          <a:xfrm rot="5400000">
            <a:off x="1102600" y="2193725"/>
            <a:ext cx="459900" cy="635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2BD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8" name="Google Shape;678;p60"/>
          <p:cNvSpPr/>
          <p:nvPr/>
        </p:nvSpPr>
        <p:spPr>
          <a:xfrm rot="5400000">
            <a:off x="2602325" y="2722099"/>
            <a:ext cx="380400" cy="635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2BD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9" name="Google Shape;679;p60"/>
          <p:cNvSpPr/>
          <p:nvPr/>
        </p:nvSpPr>
        <p:spPr>
          <a:xfrm rot="5400000">
            <a:off x="3799976" y="3251847"/>
            <a:ext cx="396600" cy="584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2BD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0" name="Google Shape;680;p60"/>
          <p:cNvSpPr/>
          <p:nvPr/>
        </p:nvSpPr>
        <p:spPr>
          <a:xfrm rot="5400000">
            <a:off x="5218200" y="3708625"/>
            <a:ext cx="405600" cy="635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2BD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1" name="Google Shape;681;p60"/>
          <p:cNvSpPr/>
          <p:nvPr/>
        </p:nvSpPr>
        <p:spPr>
          <a:xfrm rot="5400000">
            <a:off x="6402525" y="4265200"/>
            <a:ext cx="360600" cy="469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2BD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1"/>
          <p:cNvSpPr txBox="1"/>
          <p:nvPr>
            <p:ph type="title"/>
          </p:nvPr>
        </p:nvSpPr>
        <p:spPr>
          <a:xfrm>
            <a:off x="243775" y="450025"/>
            <a:ext cx="8806500" cy="7581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rPr lang="en" sz="5000"/>
              <a:t>System Components</a:t>
            </a:r>
            <a:endParaRPr sz="5000"/>
          </a:p>
        </p:txBody>
      </p:sp>
      <p:sp>
        <p:nvSpPr>
          <p:cNvPr id="687" name="Google Shape;687;p61"/>
          <p:cNvSpPr txBox="1"/>
          <p:nvPr>
            <p:ph idx="1" type="body"/>
          </p:nvPr>
        </p:nvSpPr>
        <p:spPr>
          <a:xfrm>
            <a:off x="243775" y="2261114"/>
            <a:ext cx="2838000" cy="23736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Daily automated pull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Stores raw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Cleans and prepares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Logs latest pull date</a:t>
            </a:r>
            <a:endParaRPr sz="1600"/>
          </a:p>
        </p:txBody>
      </p:sp>
      <p:sp>
        <p:nvSpPr>
          <p:cNvPr id="688" name="Google Shape;688;p61"/>
          <p:cNvSpPr txBox="1"/>
          <p:nvPr>
            <p:ph idx="2" type="body"/>
          </p:nvPr>
        </p:nvSpPr>
        <p:spPr>
          <a:xfrm>
            <a:off x="3235175" y="2261114"/>
            <a:ext cx="2838000" cy="23736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Stores historical records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Prevents duplicates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Supports analytics + API queries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61"/>
          <p:cNvSpPr txBox="1"/>
          <p:nvPr>
            <p:ph idx="6" type="body"/>
          </p:nvPr>
        </p:nvSpPr>
        <p:spPr>
          <a:xfrm>
            <a:off x="6212275" y="2261114"/>
            <a:ext cx="2838000" cy="23736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endpoint returns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Dashboard shows KPIs &amp; data quality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Interactive filters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Pipeline freshness indicator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61"/>
          <p:cNvSpPr txBox="1"/>
          <p:nvPr>
            <p:ph idx="3" type="subTitle"/>
          </p:nvPr>
        </p:nvSpPr>
        <p:spPr>
          <a:xfrm>
            <a:off x="6212275" y="1629514"/>
            <a:ext cx="2838000" cy="4404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Flask API &amp; Dashboard</a:t>
            </a:r>
            <a:endParaRPr/>
          </a:p>
        </p:txBody>
      </p:sp>
      <p:sp>
        <p:nvSpPr>
          <p:cNvPr id="691" name="Google Shape;691;p61"/>
          <p:cNvSpPr txBox="1"/>
          <p:nvPr>
            <p:ph idx="3" type="subTitle"/>
          </p:nvPr>
        </p:nvSpPr>
        <p:spPr>
          <a:xfrm>
            <a:off x="3228025" y="1629514"/>
            <a:ext cx="2838000" cy="4404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Database</a:t>
            </a:r>
            <a:endParaRPr/>
          </a:p>
        </p:txBody>
      </p:sp>
      <p:sp>
        <p:nvSpPr>
          <p:cNvPr id="692" name="Google Shape;692;p61"/>
          <p:cNvSpPr txBox="1"/>
          <p:nvPr>
            <p:ph idx="3" type="subTitle"/>
          </p:nvPr>
        </p:nvSpPr>
        <p:spPr>
          <a:xfrm>
            <a:off x="243775" y="1629514"/>
            <a:ext cx="2838000" cy="440400"/>
          </a:xfrm>
          <a:prstGeom prst="rect">
            <a:avLst/>
          </a:prstGeom>
          <a:ln cap="flat" cmpd="sng" w="28575">
            <a:solidFill>
              <a:srgbClr val="A20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Pulling</a:t>
            </a:r>
            <a:endParaRPr/>
          </a:p>
        </p:txBody>
      </p:sp>
      <p:sp>
        <p:nvSpPr>
          <p:cNvPr id="693" name="Google Shape;693;p61"/>
          <p:cNvSpPr txBox="1"/>
          <p:nvPr>
            <p:ph idx="4294967295" type="title"/>
          </p:nvPr>
        </p:nvSpPr>
        <p:spPr>
          <a:xfrm>
            <a:off x="-162150" y="4786999"/>
            <a:ext cx="9422100" cy="440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>
                <a:latin typeface="Hanken Grotesk Light"/>
                <a:ea typeface="Hanken Grotesk Light"/>
                <a:cs typeface="Hanken Grotesk Light"/>
                <a:sym typeface="Hanken Grotesk Light"/>
              </a:rPr>
              <a:t>     </a:t>
            </a:r>
            <a:r>
              <a:rPr lang="en" sz="1100">
                <a:latin typeface="Hanken Grotesk Light"/>
                <a:ea typeface="Hanken Grotesk Light"/>
                <a:cs typeface="Hanken Grotesk Light"/>
                <a:sym typeface="Hanken Grotesk Light"/>
              </a:rPr>
              <a:t>Ballings Group 777</a:t>
            </a:r>
            <a:endParaRPr sz="1100"/>
          </a:p>
        </p:txBody>
      </p:sp>
      <p:sp>
        <p:nvSpPr>
          <p:cNvPr id="694" name="Google Shape;694;p61"/>
          <p:cNvSpPr txBox="1"/>
          <p:nvPr/>
        </p:nvSpPr>
        <p:spPr>
          <a:xfrm>
            <a:off x="-243225" y="2675350"/>
            <a:ext cx="518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2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Ballings Group 777</a:t>
            </a:r>
            <a:endParaRPr sz="1100"/>
          </a:p>
        </p:txBody>
      </p:sp>
      <p:sp>
        <p:nvSpPr>
          <p:cNvPr id="700" name="Google Shape;700;p62"/>
          <p:cNvSpPr txBox="1"/>
          <p:nvPr>
            <p:ph idx="2" type="title"/>
          </p:nvPr>
        </p:nvSpPr>
        <p:spPr>
          <a:xfrm>
            <a:off x="2566575" y="206125"/>
            <a:ext cx="6372600" cy="7872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5000"/>
              <a:t>Team Responsibilities</a:t>
            </a:r>
            <a:endParaRPr sz="5000"/>
          </a:p>
        </p:txBody>
      </p:sp>
      <p:pic>
        <p:nvPicPr>
          <p:cNvPr id="701" name="Google Shape;701;p62" title="Screenshot 2025-11-24 at 12.23.09 PM.png"/>
          <p:cNvPicPr preferRelativeResize="0"/>
          <p:nvPr/>
        </p:nvPicPr>
        <p:blipFill rotWithShape="1">
          <a:blip r:embed="rId3">
            <a:alphaModFix/>
          </a:blip>
          <a:srcRect b="0" l="99" r="89" t="0"/>
          <a:stretch/>
        </p:blipFill>
        <p:spPr>
          <a:xfrm>
            <a:off x="988517" y="1168125"/>
            <a:ext cx="6872673" cy="3486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5469A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